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3B1F7A"/>
                </a:solidFill>
              </a:defRPr>
            </a:pPr>
            <a:r>
              <a:t>Picking the best 3 of 6 stocks, on a quantum computer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444444"/>
                </a:solidFill>
              </a:defRPr>
            </a:pPr>
            <a:r>
              <a:t>Robo-advisor model baskets · NSE large caps · return ↑ risk ↓</a:t>
            </a:r>
          </a:p>
        </p:txBody>
      </p:sp>
      <p:pic>
        <p:nvPicPr>
          <p:cNvPr id="4" name="Picture 3" descr="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80133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201168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All C(6,3) = 20 baskets on the risk/return plane.</a:t>
            </a:r>
          </a:p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Basket count grows as C(n,k): ~185 000 for 10-of-20.</a:t>
            </a:r>
          </a:p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Goal: find the best basket for a client's risk aversion q.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3B1F7A"/>
                </a:solidFill>
              </a:defRPr>
            </a:pPr>
            <a:r>
              <a:t>Put the constraint in the circuit, not in the cost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5486400" cy="1463040"/>
          </a:xfrm>
          <a:prstGeom prst="rect">
            <a:avLst/>
          </a:prstGeom>
          <a:solidFill>
            <a:srgbClr val="F7F6FA"/>
          </a:solidFill>
          <a:ln w="31750">
            <a:solidFill>
              <a:srgbClr val="E867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E86738"/>
                </a:solidFill>
              </a:defRPr>
            </a:pPr>
            <a:r>
              <a:t>Penalty QAOA (X mixer)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444444"/>
                </a:solidFill>
              </a:defRPr>
            </a:pPr>
            <a:r>
              <a:t>Searches all 64 bit strings, 44 of them invalid.</a:t>
            </a:r>
          </a:p>
          <a:p>
            <a:pPr>
              <a:spcAft>
                <a:spcPts val="600"/>
              </a:spcAft>
              <a:defRPr sz="1700" b="0">
                <a:solidFill>
                  <a:srgbClr val="444444"/>
                </a:solidFill>
              </a:defRPr>
            </a:pPr>
            <a:r>
              <a:t>→ finds the best basket at chance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143000"/>
            <a:ext cx="5486400" cy="1463040"/>
          </a:xfrm>
          <a:prstGeom prst="rect">
            <a:avLst/>
          </a:prstGeom>
          <a:solidFill>
            <a:srgbClr val="F7F6FA"/>
          </a:solidFill>
          <a:ln w="3175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234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A78D6"/>
                </a:solidFill>
              </a:defRPr>
            </a:pPr>
            <a:r>
              <a:t>XY-QAOA (Dicke state + XY mixer)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444444"/>
                </a:solidFill>
              </a:defRPr>
            </a:pPr>
            <a:r>
              <a:t>Only ever visits the 20 valid baskets.</a:t>
            </a:r>
          </a:p>
          <a:p>
            <a:pPr>
              <a:spcAft>
                <a:spcPts val="600"/>
              </a:spcAft>
              <a:defRPr sz="1700" b="0">
                <a:solidFill>
                  <a:srgbClr val="444444"/>
                </a:solidFill>
              </a:defRPr>
            </a:pPr>
            <a:r>
              <a:t>→ every shot is a real portfolio</a:t>
            </a:r>
          </a:p>
        </p:txBody>
      </p:sp>
      <p:pic>
        <p:nvPicPr>
          <p:cNvPr id="9" name="Picture 8" descr="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88920"/>
            <a:ext cx="11247120" cy="37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00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3B1F7A"/>
                </a:solidFill>
              </a:defRPr>
            </a:pPr>
            <a:r>
              <a:t>~7× chance (P(optimal) 0.34 vs 0.05, 24 instances) · 100% valid · penalty-QAOA = chance (0.04, 75% valid)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3B1F7A"/>
                </a:solidFill>
              </a:defRPr>
            </a:pPr>
            <a:r>
              <a:t>Real hardware (ibm_kingston) and honest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444444"/>
                </a:solidFill>
              </a:defRPr>
            </a:pPr>
            <a:r>
              <a:t>P(optimal) 0.51 raw → 0.65 post-selected vs 0.17 random · job db3b1bimb58s7387e0jg</a:t>
            </a:r>
          </a:p>
        </p:txBody>
      </p:sp>
      <p:pic>
        <p:nvPicPr>
          <p:cNvPr id="4" name="Picture 3" descr="noi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680960" cy="36551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73736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• Symmetry post-selection = free error detection</a:t>
            </a:r>
          </a:p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• Classical brute force is still faster at this size: no quantum advantage claimed</a:t>
            </a:r>
          </a:p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• Next: more business constraints as circuit symmetries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548640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3B1F7A"/>
                </a:solidFill>
              </a:defRPr>
            </a:pPr>
            <a:r>
              <a:t>Repo: github.com/achintya007-arch/qfolio</a:t>
            </a:r>
          </a:p>
          <a:p>
            <a:pPr>
              <a:spcAft>
                <a:spcPts val="600"/>
              </a:spcAft>
              <a:defRPr sz="1400" b="0">
                <a:solidFill>
                  <a:srgbClr val="3B1F7A"/>
                </a:solidFill>
              </a:defRPr>
            </a:pPr>
            <a:r>
              <a:t>Report: achintya007-arch.github.io/qfolio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